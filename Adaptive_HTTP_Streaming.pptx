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B84A0B-B32F-4B65-81E1-131AE12FBA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C1211E-7342-4F43-8550-57B9B42570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D1A6EF7-3381-451A-81A9-A57ACFF623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476770B-8C3D-4A24-81AC-575CE12E38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A6775A4-4DF7-4AC2-8B00-B72D1FC767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19C478A-C5B2-408C-955D-6835329B22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DBEFE07-5788-4E57-96D9-17DCC957AB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FBB89D8-C63F-4B05-BAB9-0A35290104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E736EDC-349A-4D01-9E3D-B072663511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4BAD760-1FCB-4E7E-A76D-16F18FC55E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C458765-7777-4D7E-92FF-BFDD091E5D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057C31-48E1-44C2-BFC8-2F86681BDA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817480-AF37-459D-96DD-D85F6C6EE4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3DE8C2-771E-4986-8C0A-25FDCD021E1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8BF2D5-1504-42CF-89EB-96A956E81D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F541CE-D783-4A0E-AA06-E9A32482C56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83DD66-124F-4F5B-843D-350091A0C5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9F3E3C-5FFF-4E1D-9B89-961311646C3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1CDDE2-471E-4572-85C2-36B4663D907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2F594C-DFBC-4AB6-A756-D963B3A086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138E39-D88C-43B7-9728-00F03A5E12A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175F7F-A92F-4481-AEE2-A85B264024E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812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5303520"/>
            <a:ext cx="12188520" cy="1554120"/>
          </a:xfrm>
          <a:prstGeom prst="rect">
            <a:avLst/>
          </a:prstGeom>
          <a:solidFill>
            <a:srgbClr val="1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914400" y="2103120"/>
            <a:ext cx="10359720" cy="4536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5394960" y="731520"/>
            <a:ext cx="1398600" cy="12340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5394960" y="777240"/>
            <a:ext cx="13986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TR2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914400" y="2286000"/>
            <a:ext cx="10359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Adaptive HTTP Streaming</a:t>
            </a:r>
            <a:endParaRPr b="0" lang="pt-BR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914400" y="3429000"/>
            <a:ext cx="103597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2000" spc="-1" strike="noStrike">
                <a:solidFill>
                  <a:srgbClr val="ccd6e0"/>
                </a:solidFill>
                <a:latin typeface="Calibri"/>
              </a:rPr>
              <a:t>Streaming Adaptativo com ABR — Arquitetura, Algoritmos e Análise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ectangle 8"/>
          <p:cNvSpPr/>
          <p:nvPr/>
        </p:nvSpPr>
        <p:spPr>
          <a:xfrm>
            <a:off x="914400" y="4160520"/>
            <a:ext cx="10359720" cy="4536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914400" y="6217920"/>
            <a:ext cx="10359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Teleinformática e Redes 2  |  Projeto Final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11612880" y="649224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6e0"/>
                </a:solidFill>
                <a:latin typeface="Calibri"/>
              </a:rPr>
              <a:t>2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365760" y="18288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Agenda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ectangle 4"/>
          <p:cNvSpPr/>
          <p:nvPr/>
        </p:nvSpPr>
        <p:spPr>
          <a:xfrm>
            <a:off x="365760" y="868680"/>
            <a:ext cx="4114440" cy="3636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Rectangle 5"/>
          <p:cNvSpPr/>
          <p:nvPr/>
        </p:nvSpPr>
        <p:spPr>
          <a:xfrm>
            <a:off x="457200" y="1188720"/>
            <a:ext cx="5577480" cy="8226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ectangle 6"/>
          <p:cNvSpPr/>
          <p:nvPr/>
        </p:nvSpPr>
        <p:spPr>
          <a:xfrm>
            <a:off x="457200" y="1188720"/>
            <a:ext cx="502560" cy="82260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457200" y="1188720"/>
            <a:ext cx="502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1051560" y="1325880"/>
            <a:ext cx="484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O que é Adaptive HTTP Streaming?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ectangle 9"/>
          <p:cNvSpPr/>
          <p:nvPr/>
        </p:nvSpPr>
        <p:spPr>
          <a:xfrm>
            <a:off x="457200" y="2194560"/>
            <a:ext cx="5577480" cy="8226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Rectangle 10"/>
          <p:cNvSpPr/>
          <p:nvPr/>
        </p:nvSpPr>
        <p:spPr>
          <a:xfrm>
            <a:off x="457200" y="2194560"/>
            <a:ext cx="502560" cy="82260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11"/>
          <p:cNvSpPr/>
          <p:nvPr/>
        </p:nvSpPr>
        <p:spPr>
          <a:xfrm>
            <a:off x="457200" y="2194560"/>
            <a:ext cx="502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12"/>
          <p:cNvSpPr/>
          <p:nvPr/>
        </p:nvSpPr>
        <p:spPr>
          <a:xfrm>
            <a:off x="1051560" y="2331720"/>
            <a:ext cx="484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Arquitetura do Sistema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ectangle 13"/>
          <p:cNvSpPr/>
          <p:nvPr/>
        </p:nvSpPr>
        <p:spPr>
          <a:xfrm>
            <a:off x="457200" y="3200400"/>
            <a:ext cx="5577480" cy="8226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14"/>
          <p:cNvSpPr/>
          <p:nvPr/>
        </p:nvSpPr>
        <p:spPr>
          <a:xfrm>
            <a:off x="457200" y="3200400"/>
            <a:ext cx="502560" cy="822600"/>
          </a:xfrm>
          <a:prstGeom prst="rect">
            <a:avLst/>
          </a:prstGeom>
          <a:solidFill>
            <a:srgbClr val="9467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15"/>
          <p:cNvSpPr/>
          <p:nvPr/>
        </p:nvSpPr>
        <p:spPr>
          <a:xfrm>
            <a:off x="457200" y="3200400"/>
            <a:ext cx="502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16"/>
          <p:cNvSpPr/>
          <p:nvPr/>
        </p:nvSpPr>
        <p:spPr>
          <a:xfrm>
            <a:off x="1051560" y="3337560"/>
            <a:ext cx="484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ManifestParser — Negociação de Qualidades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ectangle 17"/>
          <p:cNvSpPr/>
          <p:nvPr/>
        </p:nvSpPr>
        <p:spPr>
          <a:xfrm>
            <a:off x="457200" y="4206240"/>
            <a:ext cx="5577480" cy="8226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Rectangle 18"/>
          <p:cNvSpPr/>
          <p:nvPr/>
        </p:nvSpPr>
        <p:spPr>
          <a:xfrm>
            <a:off x="457200" y="4206240"/>
            <a:ext cx="502560" cy="82260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19"/>
          <p:cNvSpPr/>
          <p:nvPr/>
        </p:nvSpPr>
        <p:spPr>
          <a:xfrm>
            <a:off x="457200" y="4206240"/>
            <a:ext cx="502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Box 20"/>
          <p:cNvSpPr/>
          <p:nvPr/>
        </p:nvSpPr>
        <p:spPr>
          <a:xfrm>
            <a:off x="1051560" y="4343400"/>
            <a:ext cx="484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RateBasedABR — Algoritmo de Seleção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ectangle 21"/>
          <p:cNvSpPr/>
          <p:nvPr/>
        </p:nvSpPr>
        <p:spPr>
          <a:xfrm>
            <a:off x="457200" y="5212080"/>
            <a:ext cx="5577480" cy="8226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ectangle 22"/>
          <p:cNvSpPr/>
          <p:nvPr/>
        </p:nvSpPr>
        <p:spPr>
          <a:xfrm>
            <a:off x="457200" y="5212080"/>
            <a:ext cx="502560" cy="822600"/>
          </a:xfrm>
          <a:prstGeom prst="rect">
            <a:avLst/>
          </a:prstGeom>
          <a:solidFill>
            <a:srgbClr val="fdae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23"/>
          <p:cNvSpPr/>
          <p:nvPr/>
        </p:nvSpPr>
        <p:spPr>
          <a:xfrm>
            <a:off x="457200" y="5212080"/>
            <a:ext cx="502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Box 24"/>
          <p:cNvSpPr/>
          <p:nvPr/>
        </p:nvSpPr>
        <p:spPr>
          <a:xfrm>
            <a:off x="1051560" y="5349240"/>
            <a:ext cx="484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BufferManager — Gestão do Buffer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Rectangle 25"/>
          <p:cNvSpPr/>
          <p:nvPr/>
        </p:nvSpPr>
        <p:spPr>
          <a:xfrm>
            <a:off x="6309360" y="1188720"/>
            <a:ext cx="5577480" cy="8226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Rectangle 26"/>
          <p:cNvSpPr/>
          <p:nvPr/>
        </p:nvSpPr>
        <p:spPr>
          <a:xfrm>
            <a:off x="6309360" y="1188720"/>
            <a:ext cx="502560" cy="82260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27"/>
          <p:cNvSpPr/>
          <p:nvPr/>
        </p:nvSpPr>
        <p:spPr>
          <a:xfrm>
            <a:off x="6309360" y="1188720"/>
            <a:ext cx="502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Box 28"/>
          <p:cNvSpPr/>
          <p:nvPr/>
        </p:nvSpPr>
        <p:spPr>
          <a:xfrm>
            <a:off x="6903720" y="1325880"/>
            <a:ext cx="484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ThroughputMeter — Medição de Banda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Rectangle 29"/>
          <p:cNvSpPr/>
          <p:nvPr/>
        </p:nvSpPr>
        <p:spPr>
          <a:xfrm>
            <a:off x="6309360" y="2194560"/>
            <a:ext cx="5577480" cy="8226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Rectangle 30"/>
          <p:cNvSpPr/>
          <p:nvPr/>
        </p:nvSpPr>
        <p:spPr>
          <a:xfrm>
            <a:off x="6309360" y="2194560"/>
            <a:ext cx="502560" cy="822600"/>
          </a:xfrm>
          <a:prstGeom prst="rect">
            <a:avLst/>
          </a:prstGeom>
          <a:solidFill>
            <a:srgbClr val="9467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31"/>
          <p:cNvSpPr/>
          <p:nvPr/>
        </p:nvSpPr>
        <p:spPr>
          <a:xfrm>
            <a:off x="6309360" y="2194560"/>
            <a:ext cx="502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32"/>
          <p:cNvSpPr/>
          <p:nvPr/>
        </p:nvSpPr>
        <p:spPr>
          <a:xfrm>
            <a:off x="6903720" y="2331720"/>
            <a:ext cx="484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MetricsRecorder — Coleta de Dados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Rectangle 33"/>
          <p:cNvSpPr/>
          <p:nvPr/>
        </p:nvSpPr>
        <p:spPr>
          <a:xfrm>
            <a:off x="6309360" y="3200400"/>
            <a:ext cx="5577480" cy="8226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Rectangle 34"/>
          <p:cNvSpPr/>
          <p:nvPr/>
        </p:nvSpPr>
        <p:spPr>
          <a:xfrm>
            <a:off x="6309360" y="3200400"/>
            <a:ext cx="502560" cy="822600"/>
          </a:xfrm>
          <a:prstGeom prst="rect">
            <a:avLst/>
          </a:prstGeom>
          <a:solidFill>
            <a:srgbClr val="fdae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35"/>
          <p:cNvSpPr/>
          <p:nvPr/>
        </p:nvSpPr>
        <p:spPr>
          <a:xfrm>
            <a:off x="6309360" y="3200400"/>
            <a:ext cx="502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Box 36"/>
          <p:cNvSpPr/>
          <p:nvPr/>
        </p:nvSpPr>
        <p:spPr>
          <a:xfrm>
            <a:off x="6903720" y="3337560"/>
            <a:ext cx="484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run_simulation.py — Simulação Completa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ectangle 37"/>
          <p:cNvSpPr/>
          <p:nvPr/>
        </p:nvSpPr>
        <p:spPr>
          <a:xfrm>
            <a:off x="6309360" y="4206240"/>
            <a:ext cx="5577480" cy="8226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ectangle 38"/>
          <p:cNvSpPr/>
          <p:nvPr/>
        </p:nvSpPr>
        <p:spPr>
          <a:xfrm>
            <a:off x="6309360" y="4206240"/>
            <a:ext cx="502560" cy="82260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39"/>
          <p:cNvSpPr/>
          <p:nvPr/>
        </p:nvSpPr>
        <p:spPr>
          <a:xfrm>
            <a:off x="6309360" y="4206240"/>
            <a:ext cx="502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9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Box 40"/>
          <p:cNvSpPr/>
          <p:nvPr/>
        </p:nvSpPr>
        <p:spPr>
          <a:xfrm>
            <a:off x="6903720" y="4343400"/>
            <a:ext cx="484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Visualização: Gráficos e Resultados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11612880" y="649224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6e0"/>
                </a:solidFill>
                <a:latin typeface="Calibri"/>
              </a:rPr>
              <a:t>3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365760" y="18288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O que é Adaptive HTTP Streaming?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Rectangle 4"/>
          <p:cNvSpPr/>
          <p:nvPr/>
        </p:nvSpPr>
        <p:spPr>
          <a:xfrm>
            <a:off x="365760" y="868680"/>
            <a:ext cx="5028840" cy="3636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Rectangle 5"/>
          <p:cNvSpPr/>
          <p:nvPr/>
        </p:nvSpPr>
        <p:spPr>
          <a:xfrm>
            <a:off x="365760" y="1005840"/>
            <a:ext cx="5303160" cy="32000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6"/>
          <p:cNvSpPr/>
          <p:nvPr/>
        </p:nvSpPr>
        <p:spPr>
          <a:xfrm>
            <a:off x="502920" y="109728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77b4"/>
                </a:solidFill>
                <a:latin typeface="Calibri"/>
              </a:rPr>
              <a:t>Conceito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7"/>
          <p:cNvSpPr/>
          <p:nvPr/>
        </p:nvSpPr>
        <p:spPr>
          <a:xfrm>
            <a:off x="502920" y="1508760"/>
            <a:ext cx="5028840" cy="14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Vídeo dividido em segmentos de duração fixa (ex.: 4 s)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Cada segmento disponível em múltiplas qualidades (bitrates)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Cliente escolhe a qualidade em tempo real com base na rede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Protocolo de transporte: HTTP sobre TCP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Padrão de mercado: MPEG-DASH e HLS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Rectangle 8"/>
          <p:cNvSpPr/>
          <p:nvPr/>
        </p:nvSpPr>
        <p:spPr>
          <a:xfrm>
            <a:off x="5852160" y="1005840"/>
            <a:ext cx="5943240" cy="24685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9"/>
          <p:cNvSpPr/>
          <p:nvPr/>
        </p:nvSpPr>
        <p:spPr>
          <a:xfrm>
            <a:off x="5989320" y="1097280"/>
            <a:ext cx="5668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ca02c"/>
                </a:solidFill>
                <a:latin typeface="Calibri"/>
              </a:rPr>
              <a:t>Por que é necessário?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5989320" y="1508760"/>
            <a:ext cx="5668920" cy="11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Banda da internet varia constantemente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Streaming estático causa rebuffering ou baixa qualidade fixa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ABR busca maximizar qualidade sem pausas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Métricas chave: throughput, buffer, switches de qualidade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ectangle 11"/>
          <p:cNvSpPr/>
          <p:nvPr/>
        </p:nvSpPr>
        <p:spPr>
          <a:xfrm>
            <a:off x="5852160" y="3657600"/>
            <a:ext cx="5943240" cy="27428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12"/>
          <p:cNvSpPr/>
          <p:nvPr/>
        </p:nvSpPr>
        <p:spPr>
          <a:xfrm>
            <a:off x="5989320" y="3749040"/>
            <a:ext cx="5668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dae6b"/>
                </a:solidFill>
                <a:latin typeface="Calibri"/>
              </a:rPr>
              <a:t>Fluxo Básico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ectangle 13"/>
          <p:cNvSpPr/>
          <p:nvPr/>
        </p:nvSpPr>
        <p:spPr>
          <a:xfrm>
            <a:off x="5989320" y="4251960"/>
            <a:ext cx="1416960" cy="50256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14"/>
          <p:cNvSpPr/>
          <p:nvPr/>
        </p:nvSpPr>
        <p:spPr>
          <a:xfrm>
            <a:off x="5989320" y="4251960"/>
            <a:ext cx="1416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Servidor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ectangle 15"/>
          <p:cNvSpPr/>
          <p:nvPr/>
        </p:nvSpPr>
        <p:spPr>
          <a:xfrm>
            <a:off x="7635240" y="4251960"/>
            <a:ext cx="1416960" cy="502560"/>
          </a:xfrm>
          <a:prstGeom prst="rect">
            <a:avLst/>
          </a:prstGeom>
          <a:solidFill>
            <a:srgbClr val="9467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16"/>
          <p:cNvSpPr/>
          <p:nvPr/>
        </p:nvSpPr>
        <p:spPr>
          <a:xfrm>
            <a:off x="7635240" y="4251960"/>
            <a:ext cx="1416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Manifesto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 17"/>
          <p:cNvSpPr/>
          <p:nvPr/>
        </p:nvSpPr>
        <p:spPr>
          <a:xfrm>
            <a:off x="9281160" y="4251960"/>
            <a:ext cx="1416960" cy="50256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18"/>
          <p:cNvSpPr/>
          <p:nvPr/>
        </p:nvSpPr>
        <p:spPr>
          <a:xfrm>
            <a:off x="9281160" y="4251960"/>
            <a:ext cx="1416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Segmento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ectangle 19"/>
          <p:cNvSpPr/>
          <p:nvPr/>
        </p:nvSpPr>
        <p:spPr>
          <a:xfrm>
            <a:off x="10241280" y="4967280"/>
            <a:ext cx="1416960" cy="502560"/>
          </a:xfrm>
          <a:prstGeom prst="rect">
            <a:avLst/>
          </a:prstGeom>
          <a:solidFill>
            <a:srgbClr val="fdae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Player</a:t>
            </a: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20"/>
          <p:cNvSpPr/>
          <p:nvPr/>
        </p:nvSpPr>
        <p:spPr>
          <a:xfrm>
            <a:off x="10881360" y="4251960"/>
            <a:ext cx="1416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21"/>
          <p:cNvSpPr/>
          <p:nvPr/>
        </p:nvSpPr>
        <p:spPr>
          <a:xfrm>
            <a:off x="7425000" y="4224600"/>
            <a:ext cx="228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ccd6e0"/>
                </a:solidFill>
                <a:latin typeface="Calibr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22"/>
          <p:cNvSpPr/>
          <p:nvPr/>
        </p:nvSpPr>
        <p:spPr>
          <a:xfrm>
            <a:off x="9070920" y="4224600"/>
            <a:ext cx="228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ccd6e0"/>
                </a:solidFill>
                <a:latin typeface="Calibr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Box 23"/>
          <p:cNvSpPr/>
          <p:nvPr/>
        </p:nvSpPr>
        <p:spPr>
          <a:xfrm>
            <a:off x="10671120" y="4224600"/>
            <a:ext cx="228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ccd6e0"/>
                </a:solidFill>
                <a:latin typeface="Calibr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Box 24"/>
          <p:cNvSpPr/>
          <p:nvPr/>
        </p:nvSpPr>
        <p:spPr>
          <a:xfrm>
            <a:off x="5989320" y="4983480"/>
            <a:ext cx="56689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i="1" lang="en-US" sz="1300" spc="-1" strike="noStrike">
                <a:solidFill>
                  <a:srgbClr val="ccd6e0"/>
                </a:solidFill>
                <a:latin typeface="Calibri"/>
              </a:rPr>
              <a:t>ABR decide qual Segmento baixar a cada ciclo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ccd6e0"/>
                </a:solidFill>
                <a:latin typeface="Calibri"/>
              </a:rPr>
              <a:t>com base no throughput medido e no buffer atual.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11612880" y="649224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6e0"/>
                </a:solidFill>
                <a:latin typeface="Calibri"/>
              </a:rPr>
              <a:t>4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365760" y="18288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Arquitetura do Sistema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Rectangle 4"/>
          <p:cNvSpPr/>
          <p:nvPr/>
        </p:nvSpPr>
        <p:spPr>
          <a:xfrm>
            <a:off x="365760" y="868680"/>
            <a:ext cx="3657240" cy="3636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Rectangle 5"/>
          <p:cNvSpPr/>
          <p:nvPr/>
        </p:nvSpPr>
        <p:spPr>
          <a:xfrm>
            <a:off x="457200" y="1188720"/>
            <a:ext cx="4937400" cy="22856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ectangle 6"/>
          <p:cNvSpPr/>
          <p:nvPr/>
        </p:nvSpPr>
        <p:spPr>
          <a:xfrm>
            <a:off x="457200" y="1188720"/>
            <a:ext cx="4937400" cy="3470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7"/>
          <p:cNvSpPr/>
          <p:nvPr/>
        </p:nvSpPr>
        <p:spPr>
          <a:xfrm>
            <a:off x="567000" y="1234440"/>
            <a:ext cx="4663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manifest_parser.py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Box 8"/>
          <p:cNvSpPr/>
          <p:nvPr/>
        </p:nvSpPr>
        <p:spPr>
          <a:xfrm>
            <a:off x="567000" y="1645920"/>
            <a:ext cx="466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ManifestParser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Box 9"/>
          <p:cNvSpPr/>
          <p:nvPr/>
        </p:nvSpPr>
        <p:spPr>
          <a:xfrm>
            <a:off x="567000" y="2194560"/>
            <a:ext cx="4663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Baixa e interpreta 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manifesto JSON do servidor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Rectangle 10"/>
          <p:cNvSpPr/>
          <p:nvPr/>
        </p:nvSpPr>
        <p:spPr>
          <a:xfrm>
            <a:off x="3749040" y="1188720"/>
            <a:ext cx="4937400" cy="22856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ectangle 11"/>
          <p:cNvSpPr/>
          <p:nvPr/>
        </p:nvSpPr>
        <p:spPr>
          <a:xfrm>
            <a:off x="3749040" y="1188720"/>
            <a:ext cx="4937400" cy="34704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12"/>
          <p:cNvSpPr/>
          <p:nvPr/>
        </p:nvSpPr>
        <p:spPr>
          <a:xfrm>
            <a:off x="3858840" y="1234440"/>
            <a:ext cx="4663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abr.py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Box 13"/>
          <p:cNvSpPr/>
          <p:nvPr/>
        </p:nvSpPr>
        <p:spPr>
          <a:xfrm>
            <a:off x="3858840" y="1645920"/>
            <a:ext cx="466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RateBasedABR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Box 14"/>
          <p:cNvSpPr/>
          <p:nvPr/>
        </p:nvSpPr>
        <p:spPr>
          <a:xfrm>
            <a:off x="3858840" y="2194560"/>
            <a:ext cx="4663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Seleciona a qualidade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com base no throughput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Rectangle 15"/>
          <p:cNvSpPr/>
          <p:nvPr/>
        </p:nvSpPr>
        <p:spPr>
          <a:xfrm>
            <a:off x="7040880" y="1188720"/>
            <a:ext cx="4937400" cy="22856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ectangle 16"/>
          <p:cNvSpPr/>
          <p:nvPr/>
        </p:nvSpPr>
        <p:spPr>
          <a:xfrm>
            <a:off x="7040880" y="1188720"/>
            <a:ext cx="4937400" cy="347040"/>
          </a:xfrm>
          <a:prstGeom prst="rect">
            <a:avLst/>
          </a:prstGeom>
          <a:solidFill>
            <a:srgbClr val="9467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17"/>
          <p:cNvSpPr/>
          <p:nvPr/>
        </p:nvSpPr>
        <p:spPr>
          <a:xfrm>
            <a:off x="7150680" y="1234440"/>
            <a:ext cx="4663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buffer_manager.py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18"/>
          <p:cNvSpPr/>
          <p:nvPr/>
        </p:nvSpPr>
        <p:spPr>
          <a:xfrm>
            <a:off x="7150680" y="1645920"/>
            <a:ext cx="466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BufferManager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Box 19"/>
          <p:cNvSpPr/>
          <p:nvPr/>
        </p:nvSpPr>
        <p:spPr>
          <a:xfrm>
            <a:off x="7150680" y="2194560"/>
            <a:ext cx="4663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Adiciona/consome segmentos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e detecta rebuffering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Rectangle 20"/>
          <p:cNvSpPr/>
          <p:nvPr/>
        </p:nvSpPr>
        <p:spPr>
          <a:xfrm>
            <a:off x="457200" y="3840480"/>
            <a:ext cx="4937400" cy="22856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Rectangle 21"/>
          <p:cNvSpPr/>
          <p:nvPr/>
        </p:nvSpPr>
        <p:spPr>
          <a:xfrm>
            <a:off x="457200" y="3840480"/>
            <a:ext cx="4937400" cy="347040"/>
          </a:xfrm>
          <a:prstGeom prst="rect">
            <a:avLst/>
          </a:prstGeom>
          <a:solidFill>
            <a:srgbClr val="fdae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22"/>
          <p:cNvSpPr/>
          <p:nvPr/>
        </p:nvSpPr>
        <p:spPr>
          <a:xfrm>
            <a:off x="567000" y="3886200"/>
            <a:ext cx="4663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metrics.py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23"/>
          <p:cNvSpPr/>
          <p:nvPr/>
        </p:nvSpPr>
        <p:spPr>
          <a:xfrm>
            <a:off x="567000" y="4297680"/>
            <a:ext cx="466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ThroughputMeter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24"/>
          <p:cNvSpPr/>
          <p:nvPr/>
        </p:nvSpPr>
        <p:spPr>
          <a:xfrm>
            <a:off x="567000" y="4846320"/>
            <a:ext cx="4663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Mede a banda de download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cada segmento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Rectangle 25"/>
          <p:cNvSpPr/>
          <p:nvPr/>
        </p:nvSpPr>
        <p:spPr>
          <a:xfrm>
            <a:off x="3749040" y="3840480"/>
            <a:ext cx="4937400" cy="22856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Rectangle 26"/>
          <p:cNvSpPr/>
          <p:nvPr/>
        </p:nvSpPr>
        <p:spPr>
          <a:xfrm>
            <a:off x="3749040" y="3840480"/>
            <a:ext cx="4937400" cy="34704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27"/>
          <p:cNvSpPr/>
          <p:nvPr/>
        </p:nvSpPr>
        <p:spPr>
          <a:xfrm>
            <a:off x="3858840" y="3886200"/>
            <a:ext cx="4663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metrics.py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28"/>
          <p:cNvSpPr/>
          <p:nvPr/>
        </p:nvSpPr>
        <p:spPr>
          <a:xfrm>
            <a:off x="3858840" y="4297680"/>
            <a:ext cx="466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MetricsRecorder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Box 29"/>
          <p:cNvSpPr/>
          <p:nvPr/>
        </p:nvSpPr>
        <p:spPr>
          <a:xfrm>
            <a:off x="3858840" y="4846320"/>
            <a:ext cx="4663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Persiste métricas em CSV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por lote (batch)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Rectangle 30"/>
          <p:cNvSpPr/>
          <p:nvPr/>
        </p:nvSpPr>
        <p:spPr>
          <a:xfrm>
            <a:off x="7040880" y="3840480"/>
            <a:ext cx="4937400" cy="22856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Rectangle 31"/>
          <p:cNvSpPr/>
          <p:nvPr/>
        </p:nvSpPr>
        <p:spPr>
          <a:xfrm>
            <a:off x="7040880" y="3840480"/>
            <a:ext cx="4937400" cy="34704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32"/>
          <p:cNvSpPr/>
          <p:nvPr/>
        </p:nvSpPr>
        <p:spPr>
          <a:xfrm>
            <a:off x="7150680" y="3886200"/>
            <a:ext cx="4663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graphs.py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33"/>
          <p:cNvSpPr/>
          <p:nvPr/>
        </p:nvSpPr>
        <p:spPr>
          <a:xfrm>
            <a:off x="7150680" y="4297680"/>
            <a:ext cx="466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generate_graphs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34"/>
          <p:cNvSpPr/>
          <p:nvPr/>
        </p:nvSpPr>
        <p:spPr>
          <a:xfrm>
            <a:off x="7150680" y="4846320"/>
            <a:ext cx="4663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Lê CSV e gera 5 gráficos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em PNG via Matplotlib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35"/>
          <p:cNvSpPr/>
          <p:nvPr/>
        </p:nvSpPr>
        <p:spPr>
          <a:xfrm>
            <a:off x="3200400" y="3337560"/>
            <a:ext cx="5787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dae6b"/>
                </a:solidFill>
                <a:latin typeface="Calibri"/>
              </a:rPr>
              <a:t>run_simulation.py  |  player.py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Rectangle 36"/>
          <p:cNvSpPr/>
          <p:nvPr/>
        </p:nvSpPr>
        <p:spPr>
          <a:xfrm>
            <a:off x="3200400" y="3291840"/>
            <a:ext cx="5787720" cy="36360"/>
          </a:xfrm>
          <a:prstGeom prst="rect">
            <a:avLst/>
          </a:prstGeom>
          <a:solidFill>
            <a:srgbClr val="fdae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9467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11612880" y="649224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6e0"/>
                </a:solidFill>
                <a:latin typeface="Calibri"/>
              </a:rPr>
              <a:t>5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Box 3"/>
          <p:cNvSpPr/>
          <p:nvPr/>
        </p:nvSpPr>
        <p:spPr>
          <a:xfrm>
            <a:off x="365760" y="18288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ManifestParser — Negociação de Qualidades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Rectangle 4"/>
          <p:cNvSpPr/>
          <p:nvPr/>
        </p:nvSpPr>
        <p:spPr>
          <a:xfrm>
            <a:off x="365760" y="868680"/>
            <a:ext cx="5028840" cy="36360"/>
          </a:xfrm>
          <a:prstGeom prst="rect">
            <a:avLst/>
          </a:prstGeom>
          <a:solidFill>
            <a:srgbClr val="9467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Rectangle 5"/>
          <p:cNvSpPr/>
          <p:nvPr/>
        </p:nvSpPr>
        <p:spPr>
          <a:xfrm>
            <a:off x="365760" y="1005840"/>
            <a:ext cx="5303160" cy="347436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502920" y="109728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9467bd"/>
                </a:solidFill>
                <a:latin typeface="Calibri"/>
              </a:rPr>
              <a:t>Responsabilidades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Box 7"/>
          <p:cNvSpPr/>
          <p:nvPr/>
        </p:nvSpPr>
        <p:spPr>
          <a:xfrm>
            <a:off x="502920" y="1508760"/>
            <a:ext cx="5028840" cy="171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download_manifest(url) — GET HTTP com timeout de 10 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load_from_dict(data) — carrega manifesto para testes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get_qualities() — lista de {name, bitrate} ordenada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get_servers() — servidores ordenados por prioridade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get_segment_duration() — duração de cada chunk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get_primary_server() — servidor de maior prioridade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ectangle 8"/>
          <p:cNvSpPr/>
          <p:nvPr/>
        </p:nvSpPr>
        <p:spPr>
          <a:xfrm>
            <a:off x="5852160" y="1005840"/>
            <a:ext cx="5943240" cy="4114440"/>
          </a:xfrm>
          <a:prstGeom prst="rect">
            <a:avLst/>
          </a:prstGeom>
          <a:solidFill>
            <a:srgbClr val="0a12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9"/>
          <p:cNvSpPr/>
          <p:nvPr/>
        </p:nvSpPr>
        <p:spPr>
          <a:xfrm>
            <a:off x="6585840" y="1097280"/>
            <a:ext cx="4475880" cy="21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# Estrutura esperada do manifesto JSON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{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"qualities": [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{"name": "240p",  "bitrate": 200},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{"name": "720p",  "bitrate": 1200},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{"name": "1080p", "bitrate": 2500}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],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"servers": [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{"url": "http://cdn1.example.com", "priority": 1},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{"url": "http://cdn2.example.com", "priority": 2}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],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"segment": {"duration": 4.0, "total": 30}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}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Rectangle 10"/>
          <p:cNvSpPr/>
          <p:nvPr/>
        </p:nvSpPr>
        <p:spPr>
          <a:xfrm>
            <a:off x="365760" y="4663440"/>
            <a:ext cx="5303160" cy="20113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11"/>
          <p:cNvSpPr/>
          <p:nvPr/>
        </p:nvSpPr>
        <p:spPr>
          <a:xfrm>
            <a:off x="502920" y="475488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dae6b"/>
                </a:solidFill>
                <a:latin typeface="Calibri"/>
              </a:rPr>
              <a:t>Tratamento de Erros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Box 12"/>
          <p:cNvSpPr/>
          <p:nvPr/>
        </p:nvSpPr>
        <p:spPr>
          <a:xfrm>
            <a:off x="502920" y="5166360"/>
            <a:ext cx="5028840" cy="12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ConnectionError → servidor indisponível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Timeout → requisição expirada (10 s)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HTTPError → status 4xx / 5xx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JSONDecodeError → manifesto malformado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KeyError → campo obrigatório ausente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2"/>
          <p:cNvSpPr/>
          <p:nvPr/>
        </p:nvSpPr>
        <p:spPr>
          <a:xfrm>
            <a:off x="11612880" y="649224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6e0"/>
                </a:solidFill>
                <a:latin typeface="Calibri"/>
              </a:rPr>
              <a:t>6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Box 3"/>
          <p:cNvSpPr/>
          <p:nvPr/>
        </p:nvSpPr>
        <p:spPr>
          <a:xfrm>
            <a:off x="365760" y="182880"/>
            <a:ext cx="1097244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RateBasedABR — Algoritmo de Seleção de Qualidade</a:t>
            </a:r>
            <a:endParaRPr b="0" lang="pt-BR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Rectangle 4"/>
          <p:cNvSpPr/>
          <p:nvPr/>
        </p:nvSpPr>
        <p:spPr>
          <a:xfrm>
            <a:off x="365760" y="868680"/>
            <a:ext cx="5028840" cy="3636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Rectangle 5"/>
          <p:cNvSpPr/>
          <p:nvPr/>
        </p:nvSpPr>
        <p:spPr>
          <a:xfrm>
            <a:off x="365760" y="1005840"/>
            <a:ext cx="5303160" cy="36572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6"/>
          <p:cNvSpPr/>
          <p:nvPr/>
        </p:nvSpPr>
        <p:spPr>
          <a:xfrm>
            <a:off x="502920" y="109728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77b4"/>
                </a:solidFill>
                <a:latin typeface="Calibri"/>
              </a:rPr>
              <a:t>Como funciona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Box 7"/>
          <p:cNvSpPr/>
          <p:nvPr/>
        </p:nvSpPr>
        <p:spPr>
          <a:xfrm>
            <a:off x="502920" y="1508760"/>
            <a:ext cx="5028840" cy="171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Recebe o throughput medido em kbps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Calcula safety_limit = throughput × 0,85  (margem de 15%)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Ordena qualidades por bitrate (crescente)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Escolhe a maior qualidade com bitrate ≤ safety_limit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Fallback: 240p (mínimo) se nenhuma qualidade couber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Registra cada decisão com timestamp no histórico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Rectangle 8"/>
          <p:cNvSpPr/>
          <p:nvPr/>
        </p:nvSpPr>
        <p:spPr>
          <a:xfrm>
            <a:off x="5852160" y="1005840"/>
            <a:ext cx="5943240" cy="4754520"/>
          </a:xfrm>
          <a:prstGeom prst="rect">
            <a:avLst/>
          </a:prstGeom>
          <a:solidFill>
            <a:srgbClr val="0a12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9"/>
          <p:cNvSpPr/>
          <p:nvPr/>
        </p:nvSpPr>
        <p:spPr>
          <a:xfrm>
            <a:off x="6039360" y="1097280"/>
            <a:ext cx="5568480" cy="28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class RateBasedABR: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SAFETY_FACTOR = 0.85   # margem de segurança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def select_quality(self, throughput_kbps, qualities):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safety_limit = throughput_kbps * self.SAFETY_FACTOR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sorted_q = sorted(qualities, key=lambda q: q['bitrate'])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selected = None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for q in sorted_q: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            </a:t>
            </a: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if q['bitrate'] &lt;= safety_limit: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                </a:t>
            </a: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selected = q['name']   # sempre atualiza → pega o maior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if selected is None: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            </a:t>
            </a: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selected = '240p'   # fallback mínimo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self._record_decision(throughput_kbps, safety_limit, selected)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7ec8e3"/>
                </a:solidFill>
                <a:latin typeface="Courier New"/>
              </a:rPr>
              <a:t>return selected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Rectangle 10"/>
          <p:cNvSpPr/>
          <p:nvPr/>
        </p:nvSpPr>
        <p:spPr>
          <a:xfrm>
            <a:off x="365760" y="4800600"/>
            <a:ext cx="5303160" cy="182844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11"/>
          <p:cNvSpPr/>
          <p:nvPr/>
        </p:nvSpPr>
        <p:spPr>
          <a:xfrm>
            <a:off x="502920" y="489204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ca02c"/>
                </a:solidFill>
                <a:latin typeface="Calibri"/>
              </a:rPr>
              <a:t>Utilitários do histórico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Box 12"/>
          <p:cNvSpPr/>
          <p:nvPr/>
        </p:nvSpPr>
        <p:spPr>
          <a:xfrm>
            <a:off x="502920" y="5303520"/>
            <a:ext cx="5028840" cy="78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get_decision_history() — todas as decisões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get_quality_switches() — apenas as mudanças de qualidade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get_decision_count(quality) — contagem por qualidade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9467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11612880" y="649224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6e0"/>
                </a:solidFill>
                <a:latin typeface="Calibri"/>
              </a:rPr>
              <a:t>7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Box 3"/>
          <p:cNvSpPr/>
          <p:nvPr/>
        </p:nvSpPr>
        <p:spPr>
          <a:xfrm>
            <a:off x="365760" y="182880"/>
            <a:ext cx="1097244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BufferManager — Gestão do Buffer de Playback</a:t>
            </a:r>
            <a:endParaRPr b="0" lang="pt-BR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Rectangle 4"/>
          <p:cNvSpPr/>
          <p:nvPr/>
        </p:nvSpPr>
        <p:spPr>
          <a:xfrm>
            <a:off x="365760" y="868680"/>
            <a:ext cx="5028840" cy="36360"/>
          </a:xfrm>
          <a:prstGeom prst="rect">
            <a:avLst/>
          </a:prstGeom>
          <a:solidFill>
            <a:srgbClr val="9467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Rectangle 5"/>
          <p:cNvSpPr/>
          <p:nvPr/>
        </p:nvSpPr>
        <p:spPr>
          <a:xfrm>
            <a:off x="365760" y="1005840"/>
            <a:ext cx="5303160" cy="31086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6"/>
          <p:cNvSpPr/>
          <p:nvPr/>
        </p:nvSpPr>
        <p:spPr>
          <a:xfrm>
            <a:off x="502920" y="109728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9467bd"/>
                </a:solidFill>
                <a:latin typeface="Calibri"/>
              </a:rPr>
              <a:t>Constantes e estado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Box 7"/>
          <p:cNvSpPr/>
          <p:nvPr/>
        </p:nvSpPr>
        <p:spPr>
          <a:xfrm>
            <a:off x="502920" y="1508760"/>
            <a:ext cx="5028840" cy="14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max_buffer = 60 s (padrão configurável)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MIN_BUFFER_TO_PLAY = 2 s → mínimo para iniciar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REBUFFER_THRESHOLD = 0 s → dispara rebuffering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current_buffer — nível atual em segundos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rebuffer_count / rebuffer_history — contagem e log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Rectangle 8"/>
          <p:cNvSpPr/>
          <p:nvPr/>
        </p:nvSpPr>
        <p:spPr>
          <a:xfrm>
            <a:off x="5852160" y="1005840"/>
            <a:ext cx="5943240" cy="4388760"/>
          </a:xfrm>
          <a:prstGeom prst="rect">
            <a:avLst/>
          </a:prstGeom>
          <a:solidFill>
            <a:srgbClr val="0a12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9"/>
          <p:cNvSpPr/>
          <p:nvPr/>
        </p:nvSpPr>
        <p:spPr>
          <a:xfrm>
            <a:off x="6465960" y="1097280"/>
            <a:ext cx="4715280" cy="264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def add_segment(self, duration):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# Adiciona chunk ao buffer (capped em max_buffer)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self.current_buffer = min(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self.current_buffer + duration, self.max_buffer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def consume(self, time_elapsed):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old = self.current_buffer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self.current_buffer = max(0.0, old - time_elapsed)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self.total_consumed += time_elapsed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# Detecta rebuffering: buffer vai a zero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if old &gt; 0 and self.current_buffer &lt;= 0: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self._record_rebuffer()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def can_play(self):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return self.current_buffer &gt;= self.MIN_BUFFER_TO_PLAY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Rectangle 10"/>
          <p:cNvSpPr/>
          <p:nvPr/>
        </p:nvSpPr>
        <p:spPr>
          <a:xfrm>
            <a:off x="365760" y="4251960"/>
            <a:ext cx="5303160" cy="23770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11"/>
          <p:cNvSpPr/>
          <p:nvPr/>
        </p:nvSpPr>
        <p:spPr>
          <a:xfrm>
            <a:off x="502920" y="434340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dae6b"/>
                </a:solidFill>
                <a:latin typeface="Calibri"/>
              </a:rPr>
              <a:t>Ciclo de vida do buffer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Box 12"/>
          <p:cNvSpPr/>
          <p:nvPr/>
        </p:nvSpPr>
        <p:spPr>
          <a:xfrm>
            <a:off x="502920" y="4754880"/>
            <a:ext cx="5028840" cy="12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add_segment() → segmento chega da rede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consume() → player consome em tempo real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is_rebuffering() → buffer zerou → player para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can_play() → buffer ≥ 2 s → retoma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get_stats() → snapshot completo de métricas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11612880" y="649224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6e0"/>
                </a:solidFill>
                <a:latin typeface="Calibri"/>
              </a:rPr>
              <a:t>8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365760" y="18288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ThroughputMeter — Medição de Banda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Rectangle 4"/>
          <p:cNvSpPr/>
          <p:nvPr/>
        </p:nvSpPr>
        <p:spPr>
          <a:xfrm>
            <a:off x="365760" y="868680"/>
            <a:ext cx="4114440" cy="3636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Rectangle 5"/>
          <p:cNvSpPr/>
          <p:nvPr/>
        </p:nvSpPr>
        <p:spPr>
          <a:xfrm>
            <a:off x="365760" y="1005840"/>
            <a:ext cx="6400440" cy="5211720"/>
          </a:xfrm>
          <a:prstGeom prst="rect">
            <a:avLst/>
          </a:prstGeom>
          <a:solidFill>
            <a:srgbClr val="0a12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6"/>
          <p:cNvSpPr/>
          <p:nvPr/>
        </p:nvSpPr>
        <p:spPr>
          <a:xfrm>
            <a:off x="1049760" y="1097280"/>
            <a:ext cx="5032080" cy="31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def start_measurement(self):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self.current_start_time = time.time()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def stop_measurement(self, bytes_downloaded):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elapsed = time.time() - self.current_start_time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if elapsed &lt;= 0: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elapsed = 0.001   # evita divisão por zero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# bytes → bits → kbits / tempo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throughput_kbps = (bytes_downloaded * 8) / elapsed / 1000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measurement = ThroughputMeasurement(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bytes_downloaded=bytes_downloaded,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time_elapsed=elapsed,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throughput_kbps=throughput_kbps,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timestamp=datetime.now(),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self.history.append(measurement)   # deque(maxlen=5)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return measurement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Rectangle 7"/>
          <p:cNvSpPr/>
          <p:nvPr/>
        </p:nvSpPr>
        <p:spPr>
          <a:xfrm>
            <a:off x="6949440" y="1005840"/>
            <a:ext cx="4845960" cy="32914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8"/>
          <p:cNvSpPr/>
          <p:nvPr/>
        </p:nvSpPr>
        <p:spPr>
          <a:xfrm>
            <a:off x="7086600" y="109728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ca02c"/>
                </a:solidFill>
                <a:latin typeface="Calibri"/>
              </a:rPr>
              <a:t>Análises disponíveis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Box 9"/>
          <p:cNvSpPr/>
          <p:nvPr/>
        </p:nvSpPr>
        <p:spPr>
          <a:xfrm>
            <a:off x="7086600" y="1508760"/>
            <a:ext cx="4571640" cy="189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get_average_throughput() — média das últimas N medições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get_min / get_max — mínimo e máximo no histórico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get_jitter() — desvio padrão (variabilidade da rede)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get_throughput_trend() — increasing / decreasing / stable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history_size padrão = 5 medições (sliding window)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Rectangle 10"/>
          <p:cNvSpPr/>
          <p:nvPr/>
        </p:nvSpPr>
        <p:spPr>
          <a:xfrm>
            <a:off x="6949440" y="4480560"/>
            <a:ext cx="4845960" cy="21942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11"/>
          <p:cNvSpPr/>
          <p:nvPr/>
        </p:nvSpPr>
        <p:spPr>
          <a:xfrm>
            <a:off x="7086600" y="457200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dae6b"/>
                </a:solidFill>
                <a:latin typeface="Calibri"/>
              </a:rPr>
              <a:t>Fórmula de throughput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Box 12"/>
          <p:cNvSpPr/>
          <p:nvPr/>
        </p:nvSpPr>
        <p:spPr>
          <a:xfrm>
            <a:off x="7086600" y="4983480"/>
            <a:ext cx="4571640" cy="78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throughput_kbps = (bytes × 8) ÷ tempo_s ÷ 1000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Janela deslizante de 5 medições (deque com maxlen)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Jitter = desvio padrão das medições na janela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fdae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2"/>
          <p:cNvSpPr/>
          <p:nvPr/>
        </p:nvSpPr>
        <p:spPr>
          <a:xfrm>
            <a:off x="11612880" y="649224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6e0"/>
                </a:solidFill>
                <a:latin typeface="Calibri"/>
              </a:rPr>
              <a:t>9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Box 3"/>
          <p:cNvSpPr/>
          <p:nvPr/>
        </p:nvSpPr>
        <p:spPr>
          <a:xfrm>
            <a:off x="365760" y="182880"/>
            <a:ext cx="1097244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MetricsRecorder — Coleta e Persistência de Dados</a:t>
            </a:r>
            <a:endParaRPr b="0" lang="pt-BR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Rectangle 4"/>
          <p:cNvSpPr/>
          <p:nvPr/>
        </p:nvSpPr>
        <p:spPr>
          <a:xfrm>
            <a:off x="365760" y="868680"/>
            <a:ext cx="5028840" cy="36360"/>
          </a:xfrm>
          <a:prstGeom prst="rect">
            <a:avLst/>
          </a:prstGeom>
          <a:solidFill>
            <a:srgbClr val="fdae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Rectangle 5"/>
          <p:cNvSpPr/>
          <p:nvPr/>
        </p:nvSpPr>
        <p:spPr>
          <a:xfrm>
            <a:off x="365760" y="1005840"/>
            <a:ext cx="6400440" cy="5394600"/>
          </a:xfrm>
          <a:prstGeom prst="rect">
            <a:avLst/>
          </a:prstGeom>
          <a:solidFill>
            <a:srgbClr val="0a12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6"/>
          <p:cNvSpPr/>
          <p:nvPr/>
        </p:nvSpPr>
        <p:spPr>
          <a:xfrm>
            <a:off x="691920" y="1097280"/>
            <a:ext cx="5748120" cy="32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class MetricsRecorder: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headers = [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'segment_id', 'timestamp', 'quality',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'bitrate_kbps', 'throughput_kbps',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'buffer_level_secs', 'rebuffering_occurred', 'quality_changed'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]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def record_segment(self, segment_data):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self.buffer_data.append(segment_data)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if len(self.buffer_data) &gt;= self.batch_size: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self.flush()   # grava em lote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def flush(self):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with open(self.filepath, 'a') as f: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writer = csv.DictWriter(f, fieldnames=self.headers)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writer.writerows(self.buffer_data)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self.buffer_data.clear()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def close(self):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self.flush()   # garante dados residuais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Rectangle 7"/>
          <p:cNvSpPr/>
          <p:nvPr/>
        </p:nvSpPr>
        <p:spPr>
          <a:xfrm>
            <a:off x="6949440" y="1005840"/>
            <a:ext cx="4845960" cy="32914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TextBox 8"/>
          <p:cNvSpPr/>
          <p:nvPr/>
        </p:nvSpPr>
        <p:spPr>
          <a:xfrm>
            <a:off x="7086600" y="109728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dae6b"/>
                </a:solidFill>
                <a:latin typeface="Calibri"/>
              </a:rPr>
              <a:t>Design de desempenho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Box 9"/>
          <p:cNvSpPr/>
          <p:nvPr/>
        </p:nvSpPr>
        <p:spPr>
          <a:xfrm>
            <a:off x="7086600" y="1508760"/>
            <a:ext cx="4571640" cy="189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Escrita em lote (batch_size = 5 padrão)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DictWriter mapeia chaves → evita bugs de ordem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Context manager (__enter__ / __exit__) → close() automático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Nome do arquivo com timestamp → nunca sobrescreve logs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Cria diretório de saída automaticamente se não existir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Rectangle 10"/>
          <p:cNvSpPr/>
          <p:nvPr/>
        </p:nvSpPr>
        <p:spPr>
          <a:xfrm>
            <a:off x="6949440" y="4480560"/>
            <a:ext cx="4845960" cy="219420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11"/>
          <p:cNvSpPr/>
          <p:nvPr/>
        </p:nvSpPr>
        <p:spPr>
          <a:xfrm>
            <a:off x="7086600" y="457200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77b4"/>
                </a:solidFill>
                <a:latin typeface="Calibri"/>
              </a:rPr>
              <a:t>8 colunas do CSV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Box 12"/>
          <p:cNvSpPr/>
          <p:nvPr/>
        </p:nvSpPr>
        <p:spPr>
          <a:xfrm>
            <a:off x="7086600" y="4983480"/>
            <a:ext cx="4571640" cy="78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segment_id, timestamp, quality, bitrate_kbps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throughput_kbps, buffer_level_secs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rebuffering_occurred, quality_changed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fdae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2"/>
          <p:cNvSpPr/>
          <p:nvPr/>
        </p:nvSpPr>
        <p:spPr>
          <a:xfrm>
            <a:off x="11612880" y="649224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6e0"/>
                </a:solidFill>
                <a:latin typeface="Calibri"/>
              </a:rPr>
              <a:t>10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Box 3"/>
          <p:cNvSpPr/>
          <p:nvPr/>
        </p:nvSpPr>
        <p:spPr>
          <a:xfrm>
            <a:off x="365760" y="18288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run_simulation.py — Simulação Integrada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Rectangle 4"/>
          <p:cNvSpPr/>
          <p:nvPr/>
        </p:nvSpPr>
        <p:spPr>
          <a:xfrm>
            <a:off x="365760" y="868680"/>
            <a:ext cx="4571640" cy="36360"/>
          </a:xfrm>
          <a:prstGeom prst="rect">
            <a:avLst/>
          </a:prstGeom>
          <a:solidFill>
            <a:srgbClr val="fdae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Rectangle 5"/>
          <p:cNvSpPr/>
          <p:nvPr/>
        </p:nvSpPr>
        <p:spPr>
          <a:xfrm>
            <a:off x="365760" y="1005840"/>
            <a:ext cx="6949080" cy="5211720"/>
          </a:xfrm>
          <a:prstGeom prst="rect">
            <a:avLst/>
          </a:prstGeom>
          <a:solidFill>
            <a:srgbClr val="0a12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6"/>
          <p:cNvSpPr/>
          <p:nvPr/>
        </p:nvSpPr>
        <p:spPr>
          <a:xfrm>
            <a:off x="926280" y="1097280"/>
            <a:ext cx="5827680" cy="28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# Perfil de rede que simula oscilações reais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network_profile = (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[3000.0] * 5 +   # 3 Mbps  — Alta qualidade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[1500.0] * 5 +   # 1.5 Mbps — Média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[300.0]  * 6 +   # 300 kbps — Crise / rebuffering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[900.0]  * 4 +   # 900 kbps — Recuperando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[4000.0] * 10    # 4 Mbps  — Excelente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for seg_id in range(1, total_segments + 1):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# Ruído ±15% sobre o perfil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throughput = network_profile[seg_id-1] * random.uniform(0.85, 1.15)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quality = abr.select_quality(throughput, qualities)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buffer_manager.add_segment(segment_duration)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download_time = (bitrate / throughput) * segment_duration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buffer_manager.consume(download_time)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7ec8e3"/>
                </a:solidFill>
                <a:latin typeface="Courier New"/>
              </a:rPr>
              <a:t>recorder.record_segment({...})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Rectangle 7"/>
          <p:cNvSpPr/>
          <p:nvPr/>
        </p:nvSpPr>
        <p:spPr>
          <a:xfrm>
            <a:off x="7498080" y="1005840"/>
            <a:ext cx="4297320" cy="347436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TextBox 8"/>
          <p:cNvSpPr/>
          <p:nvPr/>
        </p:nvSpPr>
        <p:spPr>
          <a:xfrm>
            <a:off x="7635240" y="1097280"/>
            <a:ext cx="4023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dae6b"/>
                </a:solidFill>
                <a:latin typeface="Calibri"/>
              </a:rPr>
              <a:t>Componentes integrados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Box 9"/>
          <p:cNvSpPr/>
          <p:nvPr/>
        </p:nvSpPr>
        <p:spPr>
          <a:xfrm>
            <a:off x="7635240" y="1508760"/>
            <a:ext cx="4023000" cy="189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RateBasedABR → decide qualidade a cada segmento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BufferManager → simula preenchimento e consumo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MetricsRecorder → persiste 8 colunas em CSV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30 segmentos × 4 s = 120 s de vídeo simulado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cd6e0"/>
                </a:solidFill>
                <a:latin typeface="Calibri"/>
              </a:rPr>
              <a:t>Saída: logs/metrics_&lt;timestamp&gt;.csv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Rectangle 10"/>
          <p:cNvSpPr/>
          <p:nvPr/>
        </p:nvSpPr>
        <p:spPr>
          <a:xfrm>
            <a:off x="7498080" y="4663440"/>
            <a:ext cx="4297320" cy="201132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" name="TextBox 11"/>
          <p:cNvSpPr/>
          <p:nvPr/>
        </p:nvSpPr>
        <p:spPr>
          <a:xfrm>
            <a:off x="7635240" y="4754880"/>
            <a:ext cx="4023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77b4"/>
                </a:solidFill>
                <a:latin typeface="Calibri"/>
              </a:rPr>
              <a:t>Cenário de rede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Box 12"/>
          <p:cNvSpPr/>
          <p:nvPr/>
        </p:nvSpPr>
        <p:spPr>
          <a:xfrm>
            <a:off x="7635240" y="5166360"/>
            <a:ext cx="4023000" cy="12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Fase 1 — 3 Mbps → qualidade 1080p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Fase 2 — 1,5 Mbps → 720p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Fase 3 — 300 kbps → 240p (rebuffering!)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Fase 4 — 900 kbps → recuperação gradual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d6e0"/>
                </a:solidFill>
                <a:latin typeface="Calibri"/>
              </a:rPr>
              <a:t>Fase 5 — 4 Mbps → 1080p estável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TextBox 2"/>
          <p:cNvSpPr/>
          <p:nvPr/>
        </p:nvSpPr>
        <p:spPr>
          <a:xfrm>
            <a:off x="11612880" y="649224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6e0"/>
                </a:solidFill>
                <a:latin typeface="Calibri"/>
              </a:rPr>
              <a:t>11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Box 3"/>
          <p:cNvSpPr/>
          <p:nvPr/>
        </p:nvSpPr>
        <p:spPr>
          <a:xfrm>
            <a:off x="365760" y="18288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Visualização — Gráficos Gerados por graphs.py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Rectangle 4"/>
          <p:cNvSpPr/>
          <p:nvPr/>
        </p:nvSpPr>
        <p:spPr>
          <a:xfrm>
            <a:off x="365760" y="868680"/>
            <a:ext cx="5028840" cy="3636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Rectangle 5"/>
          <p:cNvSpPr/>
          <p:nvPr/>
        </p:nvSpPr>
        <p:spPr>
          <a:xfrm>
            <a:off x="365760" y="1097280"/>
            <a:ext cx="3657240" cy="23770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Rectangle 6"/>
          <p:cNvSpPr/>
          <p:nvPr/>
        </p:nvSpPr>
        <p:spPr>
          <a:xfrm>
            <a:off x="365760" y="1097280"/>
            <a:ext cx="3657240" cy="3196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7"/>
          <p:cNvSpPr/>
          <p:nvPr/>
        </p:nvSpPr>
        <p:spPr>
          <a:xfrm>
            <a:off x="457200" y="1124640"/>
            <a:ext cx="3474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Throughput vs Qualidade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Box 8"/>
          <p:cNvSpPr/>
          <p:nvPr/>
        </p:nvSpPr>
        <p:spPr>
          <a:xfrm>
            <a:off x="457200" y="1481400"/>
            <a:ext cx="347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ccd6e0"/>
                </a:solidFill>
                <a:latin typeface="Calibri"/>
              </a:rPr>
              <a:t>throughput_timeline.png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Box 9"/>
          <p:cNvSpPr/>
          <p:nvPr/>
        </p:nvSpPr>
        <p:spPr>
          <a:xfrm>
            <a:off x="457200" y="1810440"/>
            <a:ext cx="3474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Linha de throughput (kbps) com barras de qualidade selecionada no eixo duplo.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Rectangle 10"/>
          <p:cNvSpPr/>
          <p:nvPr/>
        </p:nvSpPr>
        <p:spPr>
          <a:xfrm>
            <a:off x="4297680" y="1097280"/>
            <a:ext cx="3657240" cy="23770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Rectangle 11"/>
          <p:cNvSpPr/>
          <p:nvPr/>
        </p:nvSpPr>
        <p:spPr>
          <a:xfrm>
            <a:off x="4297680" y="1097280"/>
            <a:ext cx="3657240" cy="31968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12"/>
          <p:cNvSpPr/>
          <p:nvPr/>
        </p:nvSpPr>
        <p:spPr>
          <a:xfrm>
            <a:off x="4389120" y="1124640"/>
            <a:ext cx="3474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Timeline de Qualidade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Box 13"/>
          <p:cNvSpPr/>
          <p:nvPr/>
        </p:nvSpPr>
        <p:spPr>
          <a:xfrm>
            <a:off x="4389120" y="1481400"/>
            <a:ext cx="347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ccd6e0"/>
                </a:solidFill>
                <a:latin typeface="Calibri"/>
              </a:rPr>
              <a:t>quality_timeline.png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Box 14"/>
          <p:cNvSpPr/>
          <p:nvPr/>
        </p:nvSpPr>
        <p:spPr>
          <a:xfrm>
            <a:off x="4389120" y="1810440"/>
            <a:ext cx="3474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Gráfico em degrau mostrando cada mudança de qualidade ao longo do tempo.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Rectangle 15"/>
          <p:cNvSpPr/>
          <p:nvPr/>
        </p:nvSpPr>
        <p:spPr>
          <a:xfrm>
            <a:off x="8229600" y="1097280"/>
            <a:ext cx="3657240" cy="23770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" name="Rectangle 16"/>
          <p:cNvSpPr/>
          <p:nvPr/>
        </p:nvSpPr>
        <p:spPr>
          <a:xfrm>
            <a:off x="8229600" y="1097280"/>
            <a:ext cx="3657240" cy="319680"/>
          </a:xfrm>
          <a:prstGeom prst="rect">
            <a:avLst/>
          </a:prstGeom>
          <a:solidFill>
            <a:srgbClr val="9467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TextBox 17"/>
          <p:cNvSpPr/>
          <p:nvPr/>
        </p:nvSpPr>
        <p:spPr>
          <a:xfrm>
            <a:off x="8321040" y="1124640"/>
            <a:ext cx="3474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Nível do Buffer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Box 18"/>
          <p:cNvSpPr/>
          <p:nvPr/>
        </p:nvSpPr>
        <p:spPr>
          <a:xfrm>
            <a:off x="8321040" y="1481400"/>
            <a:ext cx="347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ccd6e0"/>
                </a:solidFill>
                <a:latin typeface="Calibri"/>
              </a:rPr>
              <a:t>buffer_level.png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Box 19"/>
          <p:cNvSpPr/>
          <p:nvPr/>
        </p:nvSpPr>
        <p:spPr>
          <a:xfrm>
            <a:off x="8321040" y="1810440"/>
            <a:ext cx="3474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Evolução do buffer em segundos — identifica períodos de rebuffering.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Rectangle 20"/>
          <p:cNvSpPr/>
          <p:nvPr/>
        </p:nvSpPr>
        <p:spPr>
          <a:xfrm>
            <a:off x="365760" y="3840480"/>
            <a:ext cx="3657240" cy="23770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Rectangle 21"/>
          <p:cNvSpPr/>
          <p:nvPr/>
        </p:nvSpPr>
        <p:spPr>
          <a:xfrm>
            <a:off x="365760" y="3840480"/>
            <a:ext cx="3657240" cy="31968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TextBox 22"/>
          <p:cNvSpPr/>
          <p:nvPr/>
        </p:nvSpPr>
        <p:spPr>
          <a:xfrm>
            <a:off x="457200" y="3867840"/>
            <a:ext cx="3474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Distribuição de Qualidade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Box 23"/>
          <p:cNvSpPr/>
          <p:nvPr/>
        </p:nvSpPr>
        <p:spPr>
          <a:xfrm>
            <a:off x="457200" y="4224600"/>
            <a:ext cx="347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ccd6e0"/>
                </a:solidFill>
                <a:latin typeface="Calibri"/>
              </a:rPr>
              <a:t>quality_distribution.png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Box 24"/>
          <p:cNvSpPr/>
          <p:nvPr/>
        </p:nvSpPr>
        <p:spPr>
          <a:xfrm>
            <a:off x="457200" y="4553640"/>
            <a:ext cx="3474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Tempo total gasto em cada nível de qualidade durante a sessão.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Rectangle 25"/>
          <p:cNvSpPr/>
          <p:nvPr/>
        </p:nvSpPr>
        <p:spPr>
          <a:xfrm>
            <a:off x="4297680" y="3840480"/>
            <a:ext cx="3657240" cy="23770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Rectangle 26"/>
          <p:cNvSpPr/>
          <p:nvPr/>
        </p:nvSpPr>
        <p:spPr>
          <a:xfrm>
            <a:off x="4297680" y="3840480"/>
            <a:ext cx="3657240" cy="319680"/>
          </a:xfrm>
          <a:prstGeom prst="rect">
            <a:avLst/>
          </a:prstGeom>
          <a:solidFill>
            <a:srgbClr val="fdae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TextBox 27"/>
          <p:cNvSpPr/>
          <p:nvPr/>
        </p:nvSpPr>
        <p:spPr>
          <a:xfrm>
            <a:off x="4389120" y="3867840"/>
            <a:ext cx="3474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Histograma de Throughput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Box 28"/>
          <p:cNvSpPr/>
          <p:nvPr/>
        </p:nvSpPr>
        <p:spPr>
          <a:xfrm>
            <a:off x="4389120" y="4224600"/>
            <a:ext cx="3474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ccd6e0"/>
                </a:solidFill>
                <a:latin typeface="Calibri"/>
              </a:rPr>
              <a:t>throughput_histogram.png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Box 29"/>
          <p:cNvSpPr/>
          <p:nvPr/>
        </p:nvSpPr>
        <p:spPr>
          <a:xfrm>
            <a:off x="4389120" y="4553640"/>
            <a:ext cx="3474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Distribuição de frequência das medições de banda registradas.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Box 31"/>
          <p:cNvSpPr/>
          <p:nvPr/>
        </p:nvSpPr>
        <p:spPr>
          <a:xfrm>
            <a:off x="502920" y="6035040"/>
            <a:ext cx="11155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Box 32"/>
          <p:cNvSpPr/>
          <p:nvPr/>
        </p:nvSpPr>
        <p:spPr>
          <a:xfrm>
            <a:off x="502920" y="6446520"/>
            <a:ext cx="11155320" cy="78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TextBox 2"/>
          <p:cNvSpPr/>
          <p:nvPr/>
        </p:nvSpPr>
        <p:spPr>
          <a:xfrm>
            <a:off x="11612880" y="649224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6e0"/>
                </a:solidFill>
                <a:latin typeface="Calibri"/>
              </a:rPr>
              <a:t>12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Box 3"/>
          <p:cNvSpPr/>
          <p:nvPr/>
        </p:nvSpPr>
        <p:spPr>
          <a:xfrm>
            <a:off x="365760" y="18288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Testes Unitários — Cobertura por Módulo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Rectangle 4"/>
          <p:cNvSpPr/>
          <p:nvPr/>
        </p:nvSpPr>
        <p:spPr>
          <a:xfrm>
            <a:off x="365760" y="868680"/>
            <a:ext cx="4571640" cy="3636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Rectangle 5"/>
          <p:cNvSpPr/>
          <p:nvPr/>
        </p:nvSpPr>
        <p:spPr>
          <a:xfrm>
            <a:off x="365760" y="1097280"/>
            <a:ext cx="5577480" cy="255996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Rectangle 6"/>
          <p:cNvSpPr/>
          <p:nvPr/>
        </p:nvSpPr>
        <p:spPr>
          <a:xfrm>
            <a:off x="365760" y="1097280"/>
            <a:ext cx="5577480" cy="3196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TextBox 7"/>
          <p:cNvSpPr/>
          <p:nvPr/>
        </p:nvSpPr>
        <p:spPr>
          <a:xfrm>
            <a:off x="475560" y="113400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test_abr.py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Box 8"/>
          <p:cNvSpPr/>
          <p:nvPr/>
        </p:nvSpPr>
        <p:spPr>
          <a:xfrm>
            <a:off x="475560" y="1481400"/>
            <a:ext cx="53031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ccd6e0"/>
                </a:solidFill>
                <a:latin typeface="Calibri"/>
              </a:rPr>
              <a:t>RateBasedABR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Box 9"/>
          <p:cNvSpPr/>
          <p:nvPr/>
        </p:nvSpPr>
        <p:spPr>
          <a:xfrm>
            <a:off x="475560" y="18471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select_quality com vários throughputs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Box 10"/>
          <p:cNvSpPr/>
          <p:nvPr/>
        </p:nvSpPr>
        <p:spPr>
          <a:xfrm>
            <a:off x="475560" y="21945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Fallback para 240p quando banda é insuficiente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Box 11"/>
          <p:cNvSpPr/>
          <p:nvPr/>
        </p:nvSpPr>
        <p:spPr>
          <a:xfrm>
            <a:off x="475560" y="25419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Safety factor de 85%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Box 12"/>
          <p:cNvSpPr/>
          <p:nvPr/>
        </p:nvSpPr>
        <p:spPr>
          <a:xfrm>
            <a:off x="475560" y="28893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Histórico e switches de qualidade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Box 13"/>
          <p:cNvSpPr/>
          <p:nvPr/>
        </p:nvSpPr>
        <p:spPr>
          <a:xfrm>
            <a:off x="475560" y="323712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TypeError / ValueError em entradas inválidas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Rectangle 14"/>
          <p:cNvSpPr/>
          <p:nvPr/>
        </p:nvSpPr>
        <p:spPr>
          <a:xfrm>
            <a:off x="6217920" y="1097280"/>
            <a:ext cx="5577480" cy="255996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Rectangle 15"/>
          <p:cNvSpPr/>
          <p:nvPr/>
        </p:nvSpPr>
        <p:spPr>
          <a:xfrm>
            <a:off x="6217920" y="1097280"/>
            <a:ext cx="5577480" cy="319680"/>
          </a:xfrm>
          <a:prstGeom prst="rect">
            <a:avLst/>
          </a:prstGeom>
          <a:solidFill>
            <a:srgbClr val="9467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TextBox 16"/>
          <p:cNvSpPr/>
          <p:nvPr/>
        </p:nvSpPr>
        <p:spPr>
          <a:xfrm>
            <a:off x="6327720" y="113400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test_buffer_manager.py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Box 17"/>
          <p:cNvSpPr/>
          <p:nvPr/>
        </p:nvSpPr>
        <p:spPr>
          <a:xfrm>
            <a:off x="6327720" y="1481400"/>
            <a:ext cx="53031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ccd6e0"/>
                </a:solidFill>
                <a:latin typeface="Calibri"/>
              </a:rPr>
              <a:t>BufferManager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Box 18"/>
          <p:cNvSpPr/>
          <p:nvPr/>
        </p:nvSpPr>
        <p:spPr>
          <a:xfrm>
            <a:off x="6327720" y="18471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add_segment e consume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Box 19"/>
          <p:cNvSpPr/>
          <p:nvPr/>
        </p:nvSpPr>
        <p:spPr>
          <a:xfrm>
            <a:off x="6327720" y="21945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Detecção de rebuffering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Box 20"/>
          <p:cNvSpPr/>
          <p:nvPr/>
        </p:nvSpPr>
        <p:spPr>
          <a:xfrm>
            <a:off x="6327720" y="25419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can_play (limiar de 2 s)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Box 21"/>
          <p:cNvSpPr/>
          <p:nvPr/>
        </p:nvSpPr>
        <p:spPr>
          <a:xfrm>
            <a:off x="6327720" y="28893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Buffer cap em max_buffer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Box 22"/>
          <p:cNvSpPr/>
          <p:nvPr/>
        </p:nvSpPr>
        <p:spPr>
          <a:xfrm>
            <a:off x="6327720" y="323712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get_stats() e reset()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Rectangle 23"/>
          <p:cNvSpPr/>
          <p:nvPr/>
        </p:nvSpPr>
        <p:spPr>
          <a:xfrm>
            <a:off x="365760" y="3840480"/>
            <a:ext cx="5577480" cy="255996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Rectangle 24"/>
          <p:cNvSpPr/>
          <p:nvPr/>
        </p:nvSpPr>
        <p:spPr>
          <a:xfrm>
            <a:off x="365760" y="3840480"/>
            <a:ext cx="5577480" cy="319680"/>
          </a:xfrm>
          <a:prstGeom prst="rect">
            <a:avLst/>
          </a:prstGeom>
          <a:solidFill>
            <a:srgbClr val="fdae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TextBox 25"/>
          <p:cNvSpPr/>
          <p:nvPr/>
        </p:nvSpPr>
        <p:spPr>
          <a:xfrm>
            <a:off x="475560" y="387720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test_manifest_parser.py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Box 26"/>
          <p:cNvSpPr/>
          <p:nvPr/>
        </p:nvSpPr>
        <p:spPr>
          <a:xfrm>
            <a:off x="475560" y="4224600"/>
            <a:ext cx="53031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ccd6e0"/>
                </a:solidFill>
                <a:latin typeface="Calibri"/>
              </a:rPr>
              <a:t>ManifestParser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Box 27"/>
          <p:cNvSpPr/>
          <p:nvPr/>
        </p:nvSpPr>
        <p:spPr>
          <a:xfrm>
            <a:off x="475560" y="45903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load_from_dict com manifest válido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Box 28"/>
          <p:cNvSpPr/>
          <p:nvPr/>
        </p:nvSpPr>
        <p:spPr>
          <a:xfrm>
            <a:off x="475560" y="49377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KeyError em campos ausentes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Box 29"/>
          <p:cNvSpPr/>
          <p:nvPr/>
        </p:nvSpPr>
        <p:spPr>
          <a:xfrm>
            <a:off x="475560" y="52851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get_servers ordena por prioridade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Box 30"/>
          <p:cNvSpPr/>
          <p:nvPr/>
        </p:nvSpPr>
        <p:spPr>
          <a:xfrm>
            <a:off x="475560" y="56325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get_bitrate por nome de qualidade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Box 31"/>
          <p:cNvSpPr/>
          <p:nvPr/>
        </p:nvSpPr>
        <p:spPr>
          <a:xfrm>
            <a:off x="475560" y="598032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download_manifest (mock HTTP)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Rectangle 32"/>
          <p:cNvSpPr/>
          <p:nvPr/>
        </p:nvSpPr>
        <p:spPr>
          <a:xfrm>
            <a:off x="6217920" y="3840480"/>
            <a:ext cx="5577480" cy="255996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Rectangle 33"/>
          <p:cNvSpPr/>
          <p:nvPr/>
        </p:nvSpPr>
        <p:spPr>
          <a:xfrm>
            <a:off x="6217920" y="3840480"/>
            <a:ext cx="5577480" cy="31968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TextBox 34"/>
          <p:cNvSpPr/>
          <p:nvPr/>
        </p:nvSpPr>
        <p:spPr>
          <a:xfrm>
            <a:off x="6327720" y="387720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test_metrics.py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Box 35"/>
          <p:cNvSpPr/>
          <p:nvPr/>
        </p:nvSpPr>
        <p:spPr>
          <a:xfrm>
            <a:off x="6327720" y="4224600"/>
            <a:ext cx="53031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ccd6e0"/>
                </a:solidFill>
                <a:latin typeface="Calibri"/>
              </a:rPr>
              <a:t>ThroughputMeter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Box 36"/>
          <p:cNvSpPr/>
          <p:nvPr/>
        </p:nvSpPr>
        <p:spPr>
          <a:xfrm>
            <a:off x="6327720" y="45903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start/stop measurement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Box 37"/>
          <p:cNvSpPr/>
          <p:nvPr/>
        </p:nvSpPr>
        <p:spPr>
          <a:xfrm>
            <a:off x="6327720" y="49377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Cálculo de throughput (bytes×8/t/1000)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Box 38"/>
          <p:cNvSpPr/>
          <p:nvPr/>
        </p:nvSpPr>
        <p:spPr>
          <a:xfrm>
            <a:off x="6327720" y="52851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Jitter (desvio padrão)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Box 39"/>
          <p:cNvSpPr/>
          <p:nvPr/>
        </p:nvSpPr>
        <p:spPr>
          <a:xfrm>
            <a:off x="6327720" y="563256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get_throughput_trend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Box 40"/>
          <p:cNvSpPr/>
          <p:nvPr/>
        </p:nvSpPr>
        <p:spPr>
          <a:xfrm>
            <a:off x="6327720" y="598032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ccd6e0"/>
                </a:solidFill>
                <a:latin typeface="Calibri"/>
              </a:rPr>
              <a:t>RuntimeError sem start()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0" name="TextBox 2"/>
          <p:cNvSpPr/>
          <p:nvPr/>
        </p:nvSpPr>
        <p:spPr>
          <a:xfrm>
            <a:off x="11612880" y="649224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d6e0"/>
                </a:solidFill>
                <a:latin typeface="Calibri"/>
              </a:rPr>
              <a:t>13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Box 3"/>
          <p:cNvSpPr/>
          <p:nvPr/>
        </p:nvSpPr>
        <p:spPr>
          <a:xfrm>
            <a:off x="365760" y="18288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Conclusão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Rectangle 4"/>
          <p:cNvSpPr/>
          <p:nvPr/>
        </p:nvSpPr>
        <p:spPr>
          <a:xfrm>
            <a:off x="365760" y="868680"/>
            <a:ext cx="2285640" cy="3636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Rectangle 5"/>
          <p:cNvSpPr/>
          <p:nvPr/>
        </p:nvSpPr>
        <p:spPr>
          <a:xfrm>
            <a:off x="365760" y="1097280"/>
            <a:ext cx="5577480" cy="19198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4" name="Rectangle 6"/>
          <p:cNvSpPr/>
          <p:nvPr/>
        </p:nvSpPr>
        <p:spPr>
          <a:xfrm>
            <a:off x="365760" y="1097280"/>
            <a:ext cx="109440" cy="191988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7"/>
          <p:cNvSpPr/>
          <p:nvPr/>
        </p:nvSpPr>
        <p:spPr>
          <a:xfrm>
            <a:off x="621720" y="1261800"/>
            <a:ext cx="5211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ABR Funcional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Box 8"/>
          <p:cNvSpPr/>
          <p:nvPr/>
        </p:nvSpPr>
        <p:spPr>
          <a:xfrm>
            <a:off x="621720" y="1783080"/>
            <a:ext cx="521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Algoritmo Rate-Based com safety factor de 85% seleciona qualidade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de forma conservadora e responsiva às variações de banda.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Rectangle 9"/>
          <p:cNvSpPr/>
          <p:nvPr/>
        </p:nvSpPr>
        <p:spPr>
          <a:xfrm>
            <a:off x="6217920" y="1097280"/>
            <a:ext cx="5577480" cy="19198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8" name="Rectangle 10"/>
          <p:cNvSpPr/>
          <p:nvPr/>
        </p:nvSpPr>
        <p:spPr>
          <a:xfrm>
            <a:off x="6217920" y="1097280"/>
            <a:ext cx="109440" cy="1919880"/>
          </a:xfrm>
          <a:prstGeom prst="rect">
            <a:avLst/>
          </a:prstGeom>
          <a:solidFill>
            <a:srgbClr val="9467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TextBox 11"/>
          <p:cNvSpPr/>
          <p:nvPr/>
        </p:nvSpPr>
        <p:spPr>
          <a:xfrm>
            <a:off x="6473880" y="1261800"/>
            <a:ext cx="5211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Buffer Robusto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Box 12"/>
          <p:cNvSpPr/>
          <p:nvPr/>
        </p:nvSpPr>
        <p:spPr>
          <a:xfrm>
            <a:off x="6473880" y="1783080"/>
            <a:ext cx="521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BufferManager detecta rebuffering, controla preenchimento e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fornece snapshot completo de métricas em get_stats().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Rectangle 13"/>
          <p:cNvSpPr/>
          <p:nvPr/>
        </p:nvSpPr>
        <p:spPr>
          <a:xfrm>
            <a:off x="365760" y="3291840"/>
            <a:ext cx="5577480" cy="19198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2" name="Rectangle 14"/>
          <p:cNvSpPr/>
          <p:nvPr/>
        </p:nvSpPr>
        <p:spPr>
          <a:xfrm>
            <a:off x="365760" y="3291840"/>
            <a:ext cx="109440" cy="1919880"/>
          </a:xfrm>
          <a:prstGeom prst="rect">
            <a:avLst/>
          </a:prstGeom>
          <a:solidFill>
            <a:srgbClr val="fdae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TextBox 15"/>
          <p:cNvSpPr/>
          <p:nvPr/>
        </p:nvSpPr>
        <p:spPr>
          <a:xfrm>
            <a:off x="621720" y="3456360"/>
            <a:ext cx="5211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Métricas Completas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Box 16"/>
          <p:cNvSpPr/>
          <p:nvPr/>
        </p:nvSpPr>
        <p:spPr>
          <a:xfrm>
            <a:off x="621720" y="3977640"/>
            <a:ext cx="521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MetricsRecorder persiste 8 colunas por segmento em CSV com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escrita em lote e context manager para fechamento seguro.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Rectangle 17"/>
          <p:cNvSpPr/>
          <p:nvPr/>
        </p:nvSpPr>
        <p:spPr>
          <a:xfrm>
            <a:off x="6217920" y="3291840"/>
            <a:ext cx="5577480" cy="1919880"/>
          </a:xfrm>
          <a:prstGeom prst="rect">
            <a:avLst/>
          </a:prstGeom>
          <a:solidFill>
            <a:srgbClr val="162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6" name="Rectangle 18"/>
          <p:cNvSpPr/>
          <p:nvPr/>
        </p:nvSpPr>
        <p:spPr>
          <a:xfrm>
            <a:off x="6217920" y="3291840"/>
            <a:ext cx="109440" cy="1919880"/>
          </a:xfrm>
          <a:prstGeom prst="rect">
            <a:avLst/>
          </a:prstGeom>
          <a:solidFill>
            <a:srgbClr val="2ca0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TextBox 19"/>
          <p:cNvSpPr/>
          <p:nvPr/>
        </p:nvSpPr>
        <p:spPr>
          <a:xfrm>
            <a:off x="6473880" y="3456360"/>
            <a:ext cx="5211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Visualização Rica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Box 20"/>
          <p:cNvSpPr/>
          <p:nvPr/>
        </p:nvSpPr>
        <p:spPr>
          <a:xfrm>
            <a:off x="6473880" y="3977640"/>
            <a:ext cx="521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graphs.py gera 5 gráficos distintos: timeline, distribuição,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ccd6e0"/>
                </a:solidFill>
                <a:latin typeface="Calibri"/>
              </a:rPr>
              <a:t>histograma, buffer e correlação throughput × qualidade.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Rectangle 21"/>
          <p:cNvSpPr/>
          <p:nvPr/>
        </p:nvSpPr>
        <p:spPr>
          <a:xfrm>
            <a:off x="365760" y="5349240"/>
            <a:ext cx="11457000" cy="36360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TextBox 22"/>
          <p:cNvSpPr/>
          <p:nvPr/>
        </p:nvSpPr>
        <p:spPr>
          <a:xfrm>
            <a:off x="365760" y="5486400"/>
            <a:ext cx="11457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i="1" lang="en-US" sz="1500" spc="-1" strike="noStrike">
                <a:solidFill>
                  <a:srgbClr val="ccd6e0"/>
                </a:solidFill>
                <a:latin typeface="Calibri"/>
              </a:rPr>
              <a:t>O sistema implementa o ciclo completo de streaming adaptativo: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i="1" lang="en-US" sz="1500" spc="-1" strike="noStrike">
                <a:solidFill>
                  <a:srgbClr val="ccd6e0"/>
                </a:solidFill>
                <a:latin typeface="Calibri"/>
              </a:rPr>
              <a:t>medição de banda → seleção de qualidade → gestão de buffer → coleta de métricas → visualização.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2026-05-20T22:13:10Z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